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6" r:id="rId5"/>
    <p:sldId id="258" r:id="rId6"/>
    <p:sldId id="272" r:id="rId7"/>
    <p:sldId id="274" r:id="rId8"/>
    <p:sldId id="275" r:id="rId9"/>
    <p:sldId id="276" r:id="rId10"/>
    <p:sldId id="277" r:id="rId11"/>
    <p:sldId id="278" r:id="rId12"/>
    <p:sldId id="279" r:id="rId13"/>
    <p:sldId id="280" r:id="rId14"/>
    <p:sldId id="281" r:id="rId15"/>
    <p:sldId id="283" r:id="rId16"/>
    <p:sldId id="284" r:id="rId17"/>
    <p:sldId id="271" r:id="rId18"/>
    <p:sldId id="2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0704" autoAdjust="0"/>
  </p:normalViewPr>
  <p:slideViewPr>
    <p:cSldViewPr snapToGrid="0">
      <p:cViewPr varScale="1">
        <p:scale>
          <a:sx n="119" d="100"/>
          <a:sy n="119" d="100"/>
        </p:scale>
        <p:origin x="96" y="34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5/18/2023</a:t>
            </a:fld>
            <a:endParaRPr lang="en-US"/>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5/18/2023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98212493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7" name="Group 6">
            <a:extLst>
              <a:ext uri="{FF2B5EF4-FFF2-40B4-BE49-F238E27FC236}">
                <a16:creationId xmlns:a16="http://schemas.microsoft.com/office/drawing/2014/main" id="{D7A1CF8B-3479-49A3-A30E-2F2ECE962075}"/>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973593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69951231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a:t>Click icon to add chart</a:t>
            </a:r>
          </a:p>
        </p:txBody>
      </p:sp>
    </p:spTree>
    <p:extLst>
      <p:ext uri="{BB962C8B-B14F-4D97-AF65-F5344CB8AC3E}">
        <p14:creationId xmlns:p14="http://schemas.microsoft.com/office/powerpoint/2010/main" val="148527770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a:t>Click icon to add table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a:p>
        </p:txBody>
      </p:sp>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06568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lstStyle/>
          <a:p>
            <a:r>
              <a:rPr lang="en-US"/>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lstStyle/>
          <a:p>
            <a:r>
              <a:rPr lang="en-US"/>
              <a:t>Click icon to add picture</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lstStyle/>
          <a:p>
            <a:pPr lvl="1"/>
            <a:r>
              <a:rPr lang="en-US"/>
              <a:t>Click icon to add picture</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lstStyle/>
          <a:p>
            <a:r>
              <a:rPr lang="en-US"/>
              <a:t>Click icon to add picture</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r>
              <a:rPr lang="en-US"/>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a:t>Click icon to add SmartArt graphic</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43245194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91778059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129114042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title"/>
          </p:nvPr>
        </p:nvSpPr>
        <p:spPr>
          <a:xfrm>
            <a:off x="683773" y="981074"/>
            <a:ext cx="5243057" cy="756285"/>
          </a:xfrm>
        </p:spPr>
        <p:txBody>
          <a:bodyPr anchor="b">
            <a:normAutofit/>
          </a:bodyPr>
          <a:lstStyle/>
          <a:p>
            <a:r>
              <a:rPr lang="en-US" sz="3600" b="1">
                <a:solidFill>
                  <a:schemeClr val="tx1"/>
                </a:solidFill>
                <a:latin typeface="Georgia Pro Cond Semibold" panose="02040706050405020303" pitchFamily="18" charset="0"/>
              </a:rPr>
              <a:t>WHAT IS FAMILY ?</a:t>
            </a:r>
          </a:p>
        </p:txBody>
      </p:sp>
      <p:pic>
        <p:nvPicPr>
          <p:cNvPr id="7" name="Picture 16" descr="Collocations about Family">
            <a:extLst>
              <a:ext uri="{FF2B5EF4-FFF2-40B4-BE49-F238E27FC236}">
                <a16:creationId xmlns:a16="http://schemas.microsoft.com/office/drawing/2014/main" id="{007544D5-2384-5F8A-9DD0-FE388B5957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814" r="8469" b="2"/>
          <a:stretch/>
        </p:blipFill>
        <p:spPr bwMode="auto">
          <a:xfrm>
            <a:off x="567405" y="2814838"/>
            <a:ext cx="4817127" cy="2775835"/>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5">
            <a:extLst>
              <a:ext uri="{FF2B5EF4-FFF2-40B4-BE49-F238E27FC236}">
                <a16:creationId xmlns:a16="http://schemas.microsoft.com/office/drawing/2014/main" id="{D260AFFF-8F22-6002-C46B-B7CCB8F09490}"/>
              </a:ext>
            </a:extLst>
          </p:cNvPr>
          <p:cNvSpPr>
            <a:spLocks noGrp="1"/>
          </p:cNvSpPr>
          <p:nvPr>
            <p:ph type="sldNum" sz="quarter" idx="12"/>
          </p:nvPr>
        </p:nvSpPr>
        <p:spPr>
          <a:xfrm>
            <a:off x="5536305" y="6356350"/>
            <a:ext cx="987552" cy="365125"/>
          </a:xfrm>
        </p:spPr>
        <p:txBody>
          <a:bodyPr anchor="ctr">
            <a:normAutofit/>
          </a:bodyPr>
          <a:lstStyle/>
          <a:p>
            <a:pPr>
              <a:spcAft>
                <a:spcPts val="600"/>
              </a:spcAft>
            </a:pPr>
            <a:fld id="{A49DFD55-3C28-40EF-9E31-A92D2E4017FF}" type="slidenum">
              <a:rPr lang="en-US" smtClean="0"/>
              <a:pPr>
                <a:spcAft>
                  <a:spcPts val="600"/>
                </a:spcAft>
              </a:pPr>
              <a:t>1</a:t>
            </a:fld>
            <a:endParaRPr lang="en-US"/>
          </a:p>
        </p:txBody>
      </p:sp>
    </p:spTree>
    <p:extLst>
      <p:ext uri="{BB962C8B-B14F-4D97-AF65-F5344CB8AC3E}">
        <p14:creationId xmlns:p14="http://schemas.microsoft.com/office/powerpoint/2010/main" val="25860588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719847" y="632298"/>
            <a:ext cx="5111750" cy="878456"/>
          </a:xfrm>
        </p:spPr>
        <p:txBody>
          <a:bodyPr/>
          <a:lstStyle/>
          <a:p>
            <a:r>
              <a:rPr lang="en-US">
                <a:latin typeface="Georgia Pro Cond Semibold" panose="02040706050405020303" pitchFamily="18" charset="0"/>
                <a:cs typeface="Arial" panose="020B0604020202020204" pitchFamily="34" charset="0"/>
              </a:rPr>
              <a:t>INTRODUCTION</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719847" y="1857984"/>
            <a:ext cx="6410527" cy="2304942"/>
          </a:xfrm>
        </p:spPr>
        <p:txBody>
          <a:bodyPr>
            <a:normAutofit/>
          </a:bodyPr>
          <a:lstStyle/>
          <a:p>
            <a:pPr algn="l"/>
            <a:r>
              <a:rPr lang="en-US" sz="1600" b="0" i="0">
                <a:solidFill>
                  <a:srgbClr val="374151"/>
                </a:solidFill>
                <a:effectLst/>
                <a:latin typeface="Times New Roman" panose="02020603050405020304" pitchFamily="18" charset="0"/>
                <a:cs typeface="Times New Roman" panose="02020603050405020304" pitchFamily="18" charset="0"/>
              </a:rPr>
              <a:t>     The concept of "family" remains controversial and has become a significant social policy concern in recent years. The academic field of family studies continues to explore various definitions and approaches to studying families. This presentation aims to examine the social construction of family by understanding how individuals, in their everyday lives, create and organize the meaning of family as a social relation.</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p:txBody>
          <a:bodyPr/>
          <a:lstStyle/>
          <a:p>
            <a:fld id="{A49DFD55-3C28-40EF-9E31-A92D2E4017FF}" type="slidenum">
              <a:rPr lang="en-US" smtClean="0"/>
              <a:pPr/>
              <a:t>2</a:t>
            </a:fld>
            <a:endParaRPr lang="en-US"/>
          </a:p>
        </p:txBody>
      </p:sp>
      <p:pic>
        <p:nvPicPr>
          <p:cNvPr id="10" name="Picture 9" descr="A group of people holding a baby&#10;&#10;Description automatically generated with low confidence">
            <a:extLst>
              <a:ext uri="{FF2B5EF4-FFF2-40B4-BE49-F238E27FC236}">
                <a16:creationId xmlns:a16="http://schemas.microsoft.com/office/drawing/2014/main" id="{4E125B51-D5E7-664D-BC3F-D864CC436535}"/>
              </a:ext>
            </a:extLst>
          </p:cNvPr>
          <p:cNvPicPr>
            <a:picLocks noChangeAspect="1"/>
          </p:cNvPicPr>
          <p:nvPr/>
        </p:nvPicPr>
        <p:blipFill>
          <a:blip r:embed="rId2"/>
          <a:stretch>
            <a:fillRect/>
          </a:stretch>
        </p:blipFill>
        <p:spPr>
          <a:xfrm>
            <a:off x="10908632" y="5708868"/>
            <a:ext cx="737936" cy="735713"/>
          </a:xfrm>
          <a:prstGeom prst="rect">
            <a:avLst/>
          </a:prstGeom>
        </p:spPr>
      </p:pic>
    </p:spTree>
    <p:extLst>
      <p:ext uri="{BB962C8B-B14F-4D97-AF65-F5344CB8AC3E}">
        <p14:creationId xmlns:p14="http://schemas.microsoft.com/office/powerpoint/2010/main" val="3571516367"/>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EB4B04-CA5D-C7B9-590E-E05E59DC9549}"/>
              </a:ext>
            </a:extLst>
          </p:cNvPr>
          <p:cNvSpPr>
            <a:spLocks noGrp="1"/>
          </p:cNvSpPr>
          <p:nvPr>
            <p:ph type="body" idx="1"/>
          </p:nvPr>
        </p:nvSpPr>
        <p:spPr>
          <a:xfrm>
            <a:off x="776537" y="1018672"/>
            <a:ext cx="7645568" cy="4162927"/>
          </a:xfrm>
        </p:spPr>
        <p:txBody>
          <a:bodyPr>
            <a:normAutofit lnSpcReduction="10000"/>
          </a:bodyPr>
          <a:lstStyle/>
          <a:p>
            <a:pPr algn="l"/>
            <a:r>
              <a:rPr lang="en-US" sz="1600" b="0" i="0">
                <a:solidFill>
                  <a:srgbClr val="374151"/>
                </a:solidFill>
                <a:effectLst/>
                <a:latin typeface="Times New Roman" panose="02020603050405020304" pitchFamily="18" charset="0"/>
                <a:cs typeface="Times New Roman" panose="02020603050405020304" pitchFamily="18" charset="0"/>
              </a:rPr>
              <a:t>        This approach aligns with the paradigm shift in family studies towards more inclusive and diverse perspectives. By challenging the notion of family as a singular and fixed social form, we explore questions such as: How do individuals define and experience family in a world of multiple interpretations? Who or what shapes the substance and organization of domestic life? How are the parameters of family meaning established?</a:t>
            </a:r>
          </a:p>
          <a:p>
            <a:pPr algn="l"/>
            <a:endParaRPr lang="en-US" sz="1600" b="0" i="0">
              <a:solidFill>
                <a:srgbClr val="374151"/>
              </a:solidFill>
              <a:effectLst/>
              <a:latin typeface="Times New Roman" panose="02020603050405020304" pitchFamily="18" charset="0"/>
              <a:cs typeface="Times New Roman" panose="02020603050405020304" pitchFamily="18" charset="0"/>
            </a:endParaRPr>
          </a:p>
          <a:p>
            <a:pPr algn="l"/>
            <a:r>
              <a:rPr lang="en-US" sz="1600" b="0" i="0">
                <a:solidFill>
                  <a:srgbClr val="374151"/>
                </a:solidFill>
                <a:effectLst/>
                <a:latin typeface="Times New Roman" panose="02020603050405020304" pitchFamily="18" charset="0"/>
                <a:cs typeface="Times New Roman" panose="02020603050405020304" pitchFamily="18" charset="0"/>
              </a:rPr>
              <a:t>        Using an ethnomethodologically-informed constructionist perspective, we argue that family is not objectively meaningful but rather constantly under construction. Its defining characteristics emerge through interpretive practices in real-time and specific contexts.    </a:t>
            </a:r>
          </a:p>
          <a:p>
            <a:pPr algn="l"/>
            <a:r>
              <a:rPr lang="en-US" sz="1600">
                <a:solidFill>
                  <a:srgbClr val="374151"/>
                </a:solidFill>
                <a:latin typeface="Times New Roman" panose="02020603050405020304" pitchFamily="18" charset="0"/>
                <a:cs typeface="Times New Roman" panose="02020603050405020304" pitchFamily="18" charset="0"/>
              </a:rPr>
              <a:t>       </a:t>
            </a:r>
          </a:p>
          <a:p>
            <a:pPr algn="l"/>
            <a:r>
              <a:rPr lang="en-US" sz="1600" b="0" i="0">
                <a:solidFill>
                  <a:srgbClr val="374151"/>
                </a:solidFill>
                <a:effectLst/>
                <a:latin typeface="Times New Roman" panose="02020603050405020304" pitchFamily="18" charset="0"/>
                <a:cs typeface="Times New Roman" panose="02020603050405020304" pitchFamily="18" charset="0"/>
              </a:rPr>
              <a:t>         By understanding the theoretical and methodological foundations of the constructionist approach, we can explore the dynamic nature of family as a product of social construction.</a:t>
            </a:r>
          </a:p>
          <a:p>
            <a:endParaRPr lang="en-US"/>
          </a:p>
        </p:txBody>
      </p:sp>
      <p:sp>
        <p:nvSpPr>
          <p:cNvPr id="6" name="Slide Number Placeholder 5">
            <a:extLst>
              <a:ext uri="{FF2B5EF4-FFF2-40B4-BE49-F238E27FC236}">
                <a16:creationId xmlns:a16="http://schemas.microsoft.com/office/drawing/2014/main" id="{E90B1F1F-D340-4F3A-0346-67A7213C68FF}"/>
              </a:ext>
            </a:extLst>
          </p:cNvPr>
          <p:cNvSpPr>
            <a:spLocks noGrp="1"/>
          </p:cNvSpPr>
          <p:nvPr>
            <p:ph type="sldNum" sz="quarter" idx="12"/>
          </p:nvPr>
        </p:nvSpPr>
        <p:spPr/>
        <p:txBody>
          <a:bodyPr/>
          <a:lstStyle/>
          <a:p>
            <a:fld id="{A49DFD55-3C28-40EF-9E31-A92D2E4017FF}" type="slidenum">
              <a:rPr lang="en-US" smtClean="0"/>
              <a:pPr/>
              <a:t>3</a:t>
            </a:fld>
            <a:endParaRPr lang="en-US"/>
          </a:p>
        </p:txBody>
      </p:sp>
      <p:pic>
        <p:nvPicPr>
          <p:cNvPr id="8" name="Picture 7" descr="A group of people holding a baby&#10;&#10;Description automatically generated with low confidence">
            <a:extLst>
              <a:ext uri="{FF2B5EF4-FFF2-40B4-BE49-F238E27FC236}">
                <a16:creationId xmlns:a16="http://schemas.microsoft.com/office/drawing/2014/main" id="{5A6B26D7-5341-2C06-C7C8-AE93C41F7211}"/>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301754867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EA7E2EE-5732-A2F3-ED7F-1CBD049B1F13}"/>
              </a:ext>
            </a:extLst>
          </p:cNvPr>
          <p:cNvSpPr>
            <a:spLocks noGrp="1"/>
          </p:cNvSpPr>
          <p:nvPr>
            <p:ph type="title"/>
          </p:nvPr>
        </p:nvSpPr>
        <p:spPr>
          <a:xfrm>
            <a:off x="573713" y="561474"/>
            <a:ext cx="5606507" cy="938463"/>
          </a:xfrm>
        </p:spPr>
        <p:txBody>
          <a:bodyPr>
            <a:normAutofit/>
          </a:bodyPr>
          <a:lstStyle/>
          <a:p>
            <a:r>
              <a:rPr lang="en-US" sz="2000" b="1" i="0">
                <a:solidFill>
                  <a:srgbClr val="374151"/>
                </a:solidFill>
                <a:effectLst/>
                <a:latin typeface="Times New Roman" panose="02020603050405020304" pitchFamily="18" charset="0"/>
                <a:cs typeface="Times New Roman" panose="02020603050405020304" pitchFamily="18" charset="0"/>
              </a:rPr>
              <a:t>Analyzing “Family” as Interpretive Practice</a:t>
            </a:r>
            <a:endParaRPr lang="en-US" sz="2000" b="1">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F1C0485-15FA-B20A-1B06-7CD29A7FB1FF}"/>
              </a:ext>
            </a:extLst>
          </p:cNvPr>
          <p:cNvSpPr>
            <a:spLocks noGrp="1"/>
          </p:cNvSpPr>
          <p:nvPr>
            <p:ph type="body" idx="1"/>
          </p:nvPr>
        </p:nvSpPr>
        <p:spPr>
          <a:xfrm>
            <a:off x="573713" y="2307840"/>
            <a:ext cx="8036887" cy="3050223"/>
          </a:xfrm>
        </p:spPr>
        <p:txBody>
          <a:bodyPr>
            <a:normAutofit/>
          </a:bodyPr>
          <a:lstStyle/>
          <a:p>
            <a:pPr algn="l"/>
            <a:r>
              <a:rPr lang="en-US" sz="1600" b="0" i="0">
                <a:solidFill>
                  <a:srgbClr val="374151"/>
                </a:solidFill>
                <a:effectLst/>
                <a:latin typeface="Times New Roman" panose="02020603050405020304" pitchFamily="18" charset="0"/>
                <a:cs typeface="Times New Roman" panose="02020603050405020304" pitchFamily="18" charset="0"/>
              </a:rPr>
              <a:t>        Family is socially constructed, assigning meaning to everyday life. The constructionist approach challenges traditional notions, emphasizing interpretation over description. Domestic order is shaped by interpretive practice, influenced by family discourse.</a:t>
            </a:r>
          </a:p>
          <a:p>
            <a:pPr algn="l"/>
            <a:r>
              <a:rPr lang="en-US" sz="1600" b="0" i="0">
                <a:solidFill>
                  <a:srgbClr val="374151"/>
                </a:solidFill>
                <a:effectLst/>
                <a:latin typeface="Times New Roman" panose="02020603050405020304" pitchFamily="18" charset="0"/>
                <a:cs typeface="Times New Roman" panose="02020603050405020304" pitchFamily="18" charset="0"/>
              </a:rPr>
              <a:t>      </a:t>
            </a:r>
          </a:p>
          <a:p>
            <a:pPr algn="l"/>
            <a:r>
              <a:rPr lang="en-US" sz="1600" b="0" i="0">
                <a:solidFill>
                  <a:srgbClr val="374151"/>
                </a:solidFill>
                <a:effectLst/>
                <a:latin typeface="Times New Roman" panose="02020603050405020304" pitchFamily="18" charset="0"/>
                <a:cs typeface="Times New Roman" panose="02020603050405020304" pitchFamily="18" charset="0"/>
              </a:rPr>
              <a:t>    This perspective reveals the dynamic and socially constructed nature of family, offering fresh insights into its role in shaping everyday life.</a:t>
            </a:r>
            <a:endParaRPr lang="en-US" sz="16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BA616A9A-39E4-4FF5-BE29-025FD918378C}"/>
              </a:ext>
            </a:extLst>
          </p:cNvPr>
          <p:cNvSpPr>
            <a:spLocks noGrp="1"/>
          </p:cNvSpPr>
          <p:nvPr>
            <p:ph type="sldNum" sz="quarter" idx="12"/>
          </p:nvPr>
        </p:nvSpPr>
        <p:spPr/>
        <p:txBody>
          <a:bodyPr/>
          <a:lstStyle/>
          <a:p>
            <a:fld id="{A49DFD55-3C28-40EF-9E31-A92D2E4017FF}" type="slidenum">
              <a:rPr lang="en-US" smtClean="0"/>
              <a:pPr/>
              <a:t>4</a:t>
            </a:fld>
            <a:endParaRPr lang="en-US"/>
          </a:p>
        </p:txBody>
      </p:sp>
      <p:pic>
        <p:nvPicPr>
          <p:cNvPr id="9" name="Picture 8" descr="A group of people holding a baby&#10;&#10;Description automatically generated with low confidence">
            <a:extLst>
              <a:ext uri="{FF2B5EF4-FFF2-40B4-BE49-F238E27FC236}">
                <a16:creationId xmlns:a16="http://schemas.microsoft.com/office/drawing/2014/main" id="{910C8CFC-5DC0-1E5A-11AD-8D9BC1526F3F}"/>
              </a:ext>
            </a:extLst>
          </p:cNvPr>
          <p:cNvPicPr>
            <a:picLocks noChangeAspect="1"/>
          </p:cNvPicPr>
          <p:nvPr/>
        </p:nvPicPr>
        <p:blipFill>
          <a:blip r:embed="rId2"/>
          <a:stretch>
            <a:fillRect/>
          </a:stretch>
        </p:blipFill>
        <p:spPr>
          <a:xfrm>
            <a:off x="10888580" y="5724910"/>
            <a:ext cx="737936" cy="735713"/>
          </a:xfrm>
          <a:prstGeom prst="rect">
            <a:avLst/>
          </a:prstGeom>
        </p:spPr>
      </p:pic>
    </p:spTree>
    <p:extLst>
      <p:ext uri="{BB962C8B-B14F-4D97-AF65-F5344CB8AC3E}">
        <p14:creationId xmlns:p14="http://schemas.microsoft.com/office/powerpoint/2010/main" val="372270224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AAC5D20-A90D-AFCE-06F9-48BD283B4D82}"/>
              </a:ext>
            </a:extLst>
          </p:cNvPr>
          <p:cNvSpPr>
            <a:spLocks noGrp="1"/>
          </p:cNvSpPr>
          <p:nvPr>
            <p:ph type="title"/>
          </p:nvPr>
        </p:nvSpPr>
        <p:spPr>
          <a:xfrm>
            <a:off x="818148" y="228433"/>
            <a:ext cx="5342020" cy="365125"/>
          </a:xfrm>
        </p:spPr>
        <p:txBody>
          <a:bodyPr>
            <a:noAutofit/>
          </a:bodyPr>
          <a:lstStyle/>
          <a:p>
            <a:r>
              <a:rPr lang="en-US" sz="1600" b="1" i="0">
                <a:solidFill>
                  <a:srgbClr val="374151"/>
                </a:solidFill>
                <a:effectLst/>
                <a:latin typeface="Times New Roman" panose="02020603050405020304" pitchFamily="18" charset="0"/>
                <a:cs typeface="Times New Roman" panose="02020603050405020304" pitchFamily="18" charset="0"/>
              </a:rPr>
              <a:t>The Artful Side of Interpretation</a:t>
            </a:r>
            <a:endParaRPr lang="en-US" sz="1600" b="1">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1BB8090-3664-68A7-9783-3B69E03DA6FC}"/>
              </a:ext>
            </a:extLst>
          </p:cNvPr>
          <p:cNvSpPr>
            <a:spLocks noGrp="1"/>
          </p:cNvSpPr>
          <p:nvPr>
            <p:ph type="body" idx="1"/>
          </p:nvPr>
        </p:nvSpPr>
        <p:spPr>
          <a:xfrm>
            <a:off x="272718" y="963303"/>
            <a:ext cx="8085220" cy="5273842"/>
          </a:xfrm>
        </p:spPr>
        <p:txBody>
          <a:bodyPr>
            <a:noAutofit/>
          </a:bodyPr>
          <a:lstStyle/>
          <a:p>
            <a:pPr algn="l"/>
            <a:r>
              <a:rPr lang="en-US" sz="1500" b="0" i="0">
                <a:solidFill>
                  <a:srgbClr val="374151"/>
                </a:solidFill>
                <a:effectLst/>
                <a:latin typeface="Times New Roman" panose="02020603050405020304" pitchFamily="18" charset="0"/>
                <a:cs typeface="Times New Roman" panose="02020603050405020304" pitchFamily="18" charset="0"/>
              </a:rPr>
              <a:t>          Interpretive practice involves actively constructing social order through creative and resourceful actions. Harold Garfinkel's concept of the "artful" nature of social interactions highlights how individuals adeptly produce realities in their everyday lives, particularly through the use of language. This notion is applicable to the construction of families, as it draws attention to individual agency in assigning domestic meaning.</a:t>
            </a:r>
          </a:p>
          <a:p>
            <a:pPr algn="l"/>
            <a:r>
              <a:rPr lang="en-US" sz="1500" b="0" i="0">
                <a:solidFill>
                  <a:srgbClr val="374151"/>
                </a:solidFill>
                <a:effectLst/>
                <a:latin typeface="Times New Roman" panose="02020603050405020304" pitchFamily="18" charset="0"/>
                <a:cs typeface="Times New Roman" panose="02020603050405020304" pitchFamily="18" charset="0"/>
              </a:rPr>
              <a:t>        </a:t>
            </a:r>
          </a:p>
          <a:p>
            <a:pPr algn="l"/>
            <a:r>
              <a:rPr lang="en-US" sz="1500" b="0" i="0">
                <a:solidFill>
                  <a:srgbClr val="374151"/>
                </a:solidFill>
                <a:effectLst/>
                <a:latin typeface="Times New Roman" panose="02020603050405020304" pitchFamily="18" charset="0"/>
                <a:cs typeface="Times New Roman" panose="02020603050405020304" pitchFamily="18" charset="0"/>
              </a:rPr>
              <a:t>         One example that illustrates the construction of family is found in Carol Stack's ethnography, "All Our Kin" (1974). Billy, a young African-American woman, describes the family ties that structure her daily life. Through her words, Billy convincingly articulates a familiar vocabulary, incorporating aspects of her day-to-day experiences to construct and convey the significance of family. She emphasizes care, cooperation, and mutual assistance as defining characteristics of her "</a:t>
            </a:r>
            <a:r>
              <a:rPr lang="en-US" sz="1500" b="1" i="0">
                <a:solidFill>
                  <a:srgbClr val="374151"/>
                </a:solidFill>
                <a:effectLst/>
                <a:latin typeface="Times New Roman" panose="02020603050405020304" pitchFamily="18" charset="0"/>
                <a:cs typeface="Times New Roman" panose="02020603050405020304" pitchFamily="18" charset="0"/>
              </a:rPr>
              <a:t>family</a:t>
            </a:r>
            <a:r>
              <a:rPr lang="en-US" sz="1500" b="0" i="0">
                <a:solidFill>
                  <a:srgbClr val="374151"/>
                </a:solidFill>
                <a:effectLst/>
                <a:latin typeface="Times New Roman" panose="02020603050405020304" pitchFamily="18" charset="0"/>
                <a:cs typeface="Times New Roman" panose="02020603050405020304" pitchFamily="18" charset="0"/>
              </a:rPr>
              <a:t>." By actively assigning family status and outlining the parameters of her social ties, Billy communicates the meanings, interpersonal rights, and obligations associated with her familial relationships.</a:t>
            </a:r>
          </a:p>
          <a:p>
            <a:pPr algn="l"/>
            <a:r>
              <a:rPr lang="en-US" sz="1500">
                <a:solidFill>
                  <a:srgbClr val="374151"/>
                </a:solidFill>
                <a:latin typeface="Times New Roman" panose="02020603050405020304" pitchFamily="18" charset="0"/>
                <a:cs typeface="Times New Roman" panose="02020603050405020304" pitchFamily="18" charset="0"/>
              </a:rPr>
              <a:t>             </a:t>
            </a:r>
            <a:r>
              <a:rPr lang="en-US" sz="1500" b="0" i="0">
                <a:solidFill>
                  <a:srgbClr val="374151"/>
                </a:solidFill>
                <a:effectLst/>
                <a:latin typeface="Times New Roman" panose="02020603050405020304" pitchFamily="18" charset="0"/>
                <a:cs typeface="Times New Roman" panose="02020603050405020304" pitchFamily="18" charset="0"/>
              </a:rPr>
              <a:t>This perspective highlights that family structure and meaning are actively and creatively constructed through social interactions, shaped by public circumstances, and practical considerations. Family-in-use, as an ethnomethodologically-informed approach, emphasizes the ongoing process of interaction in mediating family meaning and domestic reality.</a:t>
            </a:r>
          </a:p>
          <a:p>
            <a:endParaRPr lang="en-US" sz="15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99EE4A5-C565-49CF-D091-6326566678EA}"/>
              </a:ext>
            </a:extLst>
          </p:cNvPr>
          <p:cNvSpPr>
            <a:spLocks noGrp="1"/>
          </p:cNvSpPr>
          <p:nvPr>
            <p:ph type="sldNum" sz="quarter" idx="12"/>
          </p:nvPr>
        </p:nvSpPr>
        <p:spPr/>
        <p:txBody>
          <a:bodyPr/>
          <a:lstStyle/>
          <a:p>
            <a:fld id="{A49DFD55-3C28-40EF-9E31-A92D2E4017FF}" type="slidenum">
              <a:rPr lang="en-US" smtClean="0"/>
              <a:pPr/>
              <a:t>5</a:t>
            </a:fld>
            <a:endParaRPr lang="en-US"/>
          </a:p>
        </p:txBody>
      </p:sp>
      <p:pic>
        <p:nvPicPr>
          <p:cNvPr id="9" name="Picture 8" descr="A group of people holding a baby&#10;&#10;Description automatically generated with low confidence">
            <a:extLst>
              <a:ext uri="{FF2B5EF4-FFF2-40B4-BE49-F238E27FC236}">
                <a16:creationId xmlns:a16="http://schemas.microsoft.com/office/drawing/2014/main" id="{5D9BF229-CA50-5B12-2DDA-06868D6746B0}"/>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287121299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6BF41C-BDAE-7942-28F9-861C4E81AC03}"/>
              </a:ext>
            </a:extLst>
          </p:cNvPr>
          <p:cNvSpPr>
            <a:spLocks noGrp="1"/>
          </p:cNvSpPr>
          <p:nvPr>
            <p:ph type="body" idx="1"/>
          </p:nvPr>
        </p:nvSpPr>
        <p:spPr>
          <a:xfrm>
            <a:off x="585538" y="511224"/>
            <a:ext cx="7571873" cy="6085757"/>
          </a:xfrm>
        </p:spPr>
        <p:txBody>
          <a:bodyPr>
            <a:noAutofit/>
          </a:bodyPr>
          <a:lstStyle/>
          <a:p>
            <a:r>
              <a:rPr lang="en-US" sz="1600" b="0" i="0">
                <a:solidFill>
                  <a:srgbClr val="374151"/>
                </a:solidFill>
                <a:effectLst/>
                <a:latin typeface="Times New Roman" panose="02020603050405020304" pitchFamily="18" charset="0"/>
                <a:cs typeface="Times New Roman" panose="02020603050405020304" pitchFamily="18" charset="0"/>
              </a:rPr>
              <a:t>      Interpretation is influenced by social constraints and resources within local culture. It is not solely driven by individual desires. People do not construct their lives completely according to their own desires, as Karl Marx (1964) reminds us. The social construction of family is artful but bound by social limitations.</a:t>
            </a:r>
          </a:p>
          <a:p>
            <a:r>
              <a:rPr lang="en-US" sz="1600" b="0" i="0">
                <a:solidFill>
                  <a:srgbClr val="374151"/>
                </a:solidFill>
                <a:effectLst/>
                <a:latin typeface="Times New Roman" panose="02020603050405020304" pitchFamily="18" charset="0"/>
                <a:cs typeface="Times New Roman" panose="02020603050405020304" pitchFamily="18" charset="0"/>
              </a:rPr>
              <a:t>       Domestic order is not assembled from scratch on each interpretive occasion but rather mediated by interpretive resources and circumstances at hand. Local culture, characterized as proximate and ordinary, comprises the situated particulars used to establish meaning in everyday life. It provides diverse interpretive resources and conditions, not a rigid set of directives. </a:t>
            </a:r>
          </a:p>
          <a:p>
            <a:r>
              <a:rPr lang="en-US" sz="1600" b="0" i="0">
                <a:solidFill>
                  <a:srgbClr val="374151"/>
                </a:solidFill>
                <a:effectLst/>
                <a:latin typeface="Times New Roman" panose="02020603050405020304" pitchFamily="18" charset="0"/>
                <a:cs typeface="Times New Roman" panose="02020603050405020304" pitchFamily="18" charset="0"/>
              </a:rPr>
              <a:t>       Local cultures of domesticity offer stable ways of conceptualizing family, subject to interpretive practice. Different organizations invoke local culture, shaping the assignment of meaning. The meaning-making process becomes organizationally embedded. Professional outlooks and agendas influence the local assignment of meaning. They combine with cultural perspectives to shape interpretations.</a:t>
            </a:r>
          </a:p>
          <a:p>
            <a:r>
              <a:rPr lang="en-US" sz="1600">
                <a:solidFill>
                  <a:srgbClr val="374151"/>
                </a:solidFill>
                <a:latin typeface="Times New Roman" panose="02020603050405020304" pitchFamily="18" charset="0"/>
                <a:cs typeface="Times New Roman" panose="02020603050405020304" pitchFamily="18" charset="0"/>
              </a:rPr>
              <a:t>        </a:t>
            </a:r>
            <a:r>
              <a:rPr lang="en-US" sz="1600" b="0" i="0">
                <a:solidFill>
                  <a:srgbClr val="374151"/>
                </a:solidFill>
                <a:effectLst/>
                <a:latin typeface="Times New Roman" panose="02020603050405020304" pitchFamily="18" charset="0"/>
                <a:cs typeface="Times New Roman" panose="02020603050405020304" pitchFamily="18" charset="0"/>
              </a:rPr>
              <a:t> Judges and therapists may interpret the same situation differently based on their professional circumstances. Interpretation is conditioned by practical exigencies and cultural categories, but it does not determine what is constructed. Overall, interpretation is complex, influenced by cultural and organizational factors, impacting how individuals understand family dynamics.</a:t>
            </a:r>
            <a:endParaRPr lang="en-US" sz="16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FB6876F3-AD7A-A10E-5DAF-63ADC13E7E4A}"/>
              </a:ext>
            </a:extLst>
          </p:cNvPr>
          <p:cNvSpPr>
            <a:spLocks noGrp="1"/>
          </p:cNvSpPr>
          <p:nvPr>
            <p:ph type="sldNum" sz="quarter" idx="12"/>
          </p:nvPr>
        </p:nvSpPr>
        <p:spPr/>
        <p:txBody>
          <a:bodyPr/>
          <a:lstStyle/>
          <a:p>
            <a:fld id="{A49DFD55-3C28-40EF-9E31-A92D2E4017FF}" type="slidenum">
              <a:rPr lang="en-US" smtClean="0"/>
              <a:pPr/>
              <a:t>6</a:t>
            </a:fld>
            <a:endParaRPr lang="en-US"/>
          </a:p>
        </p:txBody>
      </p:sp>
      <p:pic>
        <p:nvPicPr>
          <p:cNvPr id="8" name="Picture 7" descr="A group of people holding a baby&#10;&#10;Description automatically generated with low confidence">
            <a:extLst>
              <a:ext uri="{FF2B5EF4-FFF2-40B4-BE49-F238E27FC236}">
                <a16:creationId xmlns:a16="http://schemas.microsoft.com/office/drawing/2014/main" id="{5B158479-0015-CA0B-B9B6-6AF29E09E8C6}"/>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394554200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F405D-6EA3-A44A-A00E-3F6311943676}"/>
              </a:ext>
            </a:extLst>
          </p:cNvPr>
          <p:cNvSpPr>
            <a:spLocks noGrp="1"/>
          </p:cNvSpPr>
          <p:nvPr>
            <p:ph type="title"/>
          </p:nvPr>
        </p:nvSpPr>
        <p:spPr>
          <a:xfrm>
            <a:off x="838200" y="380250"/>
            <a:ext cx="4856747" cy="1015413"/>
          </a:xfrm>
        </p:spPr>
        <p:txBody>
          <a:bodyPr>
            <a:normAutofit fontScale="90000"/>
          </a:bodyPr>
          <a:lstStyle/>
          <a:p>
            <a:r>
              <a:rPr lang="en-US" sz="2000" b="1">
                <a:latin typeface="Times New Roman" panose="02020603050405020304" pitchFamily="18" charset="0"/>
                <a:cs typeface="Times New Roman" panose="02020603050405020304" pitchFamily="18" charset="0"/>
              </a:rPr>
              <a:t> </a:t>
            </a:r>
            <a:br>
              <a:rPr lang="en-US" sz="2000" b="1">
                <a:latin typeface="Times New Roman" panose="02020603050405020304" pitchFamily="18" charset="0"/>
                <a:cs typeface="Times New Roman" panose="02020603050405020304" pitchFamily="18" charset="0"/>
              </a:rPr>
            </a:br>
            <a:r>
              <a:rPr lang="en-US" sz="2000" b="1" err="1">
                <a:latin typeface="Times New Roman" panose="02020603050405020304" pitchFamily="18" charset="0"/>
                <a:cs typeface="Times New Roman" panose="02020603050405020304" pitchFamily="18" charset="0"/>
              </a:rPr>
              <a:t>deprivatization</a:t>
            </a:r>
            <a:r>
              <a:rPr lang="en-US" sz="2000" b="1">
                <a:latin typeface="Times New Roman" panose="02020603050405020304" pitchFamily="18" charset="0"/>
                <a:cs typeface="Times New Roman" panose="02020603050405020304" pitchFamily="18" charset="0"/>
              </a:rPr>
              <a:t> of Family Life</a:t>
            </a:r>
            <a:br>
              <a:rPr lang="en-US"/>
            </a:br>
            <a:endParaRPr lang="en-US"/>
          </a:p>
        </p:txBody>
      </p:sp>
      <p:sp>
        <p:nvSpPr>
          <p:cNvPr id="3" name="Text Placeholder 2">
            <a:extLst>
              <a:ext uri="{FF2B5EF4-FFF2-40B4-BE49-F238E27FC236}">
                <a16:creationId xmlns:a16="http://schemas.microsoft.com/office/drawing/2014/main" id="{B588165D-709B-4752-0002-5246B5819ECB}"/>
              </a:ext>
            </a:extLst>
          </p:cNvPr>
          <p:cNvSpPr>
            <a:spLocks noGrp="1"/>
          </p:cNvSpPr>
          <p:nvPr>
            <p:ph type="body" idx="1"/>
          </p:nvPr>
        </p:nvSpPr>
        <p:spPr>
          <a:xfrm>
            <a:off x="838200" y="1750826"/>
            <a:ext cx="6140116" cy="2167731"/>
          </a:xfrm>
        </p:spPr>
        <p:txBody>
          <a:bodyPr>
            <a:noAutofit/>
          </a:bodyPr>
          <a:lstStyle/>
          <a:p>
            <a:pPr algn="l"/>
            <a:r>
              <a:rPr lang="en-US" sz="1600" b="0" i="0">
                <a:solidFill>
                  <a:srgbClr val="374151"/>
                </a:solidFill>
                <a:effectLst/>
                <a:latin typeface="Times New Roman" panose="02020603050405020304" pitchFamily="18" charset="0"/>
                <a:cs typeface="Times New Roman" panose="02020603050405020304" pitchFamily="18" charset="0"/>
              </a:rPr>
              <a:t>Formal organizations shape our daily lives and how we perceive family. They interpret and influence family dynamics, making family matters less private. This change, which is not necessarily negative, recognizes that organized settings impact our understanding of family. It involves laws, therapy sessions, media discussions, and a broader public conversation about family. Family life is becoming more social and less private.</a:t>
            </a:r>
          </a:p>
          <a:p>
            <a:endParaRPr lang="en-US" sz="16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429CA510-7F99-A154-3BF0-55F1B705B386}"/>
              </a:ext>
            </a:extLst>
          </p:cNvPr>
          <p:cNvSpPr>
            <a:spLocks noGrp="1"/>
          </p:cNvSpPr>
          <p:nvPr>
            <p:ph type="sldNum" sz="quarter" idx="12"/>
          </p:nvPr>
        </p:nvSpPr>
        <p:spPr/>
        <p:txBody>
          <a:bodyPr/>
          <a:lstStyle/>
          <a:p>
            <a:fld id="{A49DFD55-3C28-40EF-9E31-A92D2E4017FF}" type="slidenum">
              <a:rPr lang="en-US" smtClean="0"/>
              <a:pPr/>
              <a:t>7</a:t>
            </a:fld>
            <a:endParaRPr lang="en-US"/>
          </a:p>
        </p:txBody>
      </p:sp>
      <p:pic>
        <p:nvPicPr>
          <p:cNvPr id="7" name="Picture 6" descr="A group of people holding a baby&#10;&#10;Description automatically generated with low confidence">
            <a:extLst>
              <a:ext uri="{FF2B5EF4-FFF2-40B4-BE49-F238E27FC236}">
                <a16:creationId xmlns:a16="http://schemas.microsoft.com/office/drawing/2014/main" id="{CA2FC193-FDEB-3AA9-4191-4477334B6471}"/>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74733307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2253C6-228E-E791-E25E-C18DF0B1AC1A}"/>
              </a:ext>
            </a:extLst>
          </p:cNvPr>
          <p:cNvSpPr>
            <a:spLocks noGrp="1"/>
          </p:cNvSpPr>
          <p:nvPr>
            <p:ph type="body" idx="1"/>
          </p:nvPr>
        </p:nvSpPr>
        <p:spPr>
          <a:xfrm>
            <a:off x="786062" y="1203156"/>
            <a:ext cx="6922170" cy="3898233"/>
          </a:xfrm>
        </p:spPr>
        <p:txBody>
          <a:bodyPr>
            <a:normAutofit/>
          </a:bodyPr>
          <a:lstStyle/>
          <a:p>
            <a:r>
              <a:rPr lang="en-US" sz="1600" b="0" i="0">
                <a:solidFill>
                  <a:srgbClr val="374151"/>
                </a:solidFill>
                <a:effectLst/>
                <a:latin typeface="Times New Roman" panose="02020603050405020304" pitchFamily="18" charset="0"/>
                <a:cs typeface="Times New Roman" panose="02020603050405020304" pitchFamily="18" charset="0"/>
              </a:rPr>
              <a:t>We need to clarify how we understand family based on circumstances. Organized settings offer interpretive modes, but they don't determine interpretation.Local culture provides resources, not directives. </a:t>
            </a:r>
          </a:p>
          <a:p>
            <a:endParaRPr lang="en-US" sz="1600">
              <a:solidFill>
                <a:srgbClr val="374151"/>
              </a:solidFill>
              <a:latin typeface="Times New Roman" panose="02020603050405020304" pitchFamily="18" charset="0"/>
              <a:cs typeface="Times New Roman" panose="02020603050405020304" pitchFamily="18" charset="0"/>
            </a:endParaRPr>
          </a:p>
          <a:p>
            <a:r>
              <a:rPr lang="en-US" sz="1600" b="0" i="0">
                <a:solidFill>
                  <a:srgbClr val="374151"/>
                </a:solidFill>
                <a:effectLst/>
                <a:latin typeface="Times New Roman" panose="02020603050405020304" pitchFamily="18" charset="0"/>
                <a:cs typeface="Times New Roman" panose="02020603050405020304" pitchFamily="18" charset="0"/>
              </a:rPr>
              <a:t>People in everyday settings exercise interpretive discretion, influenced by various meanings. Interpretations of domesticity are shaped by organizational meanings, not individuals or families. </a:t>
            </a:r>
          </a:p>
          <a:p>
            <a:endParaRPr lang="en-US" sz="1600">
              <a:solidFill>
                <a:srgbClr val="374151"/>
              </a:solidFill>
              <a:latin typeface="Times New Roman" panose="02020603050405020304" pitchFamily="18" charset="0"/>
              <a:cs typeface="Times New Roman" panose="02020603050405020304" pitchFamily="18" charset="0"/>
            </a:endParaRPr>
          </a:p>
          <a:p>
            <a:r>
              <a:rPr lang="en-US" sz="1600" b="0" i="0">
                <a:solidFill>
                  <a:srgbClr val="374151"/>
                </a:solidFill>
                <a:effectLst/>
                <a:latin typeface="Times New Roman" panose="02020603050405020304" pitchFamily="18" charset="0"/>
                <a:cs typeface="Times New Roman" panose="02020603050405020304" pitchFamily="18" charset="0"/>
              </a:rPr>
              <a:t>Interpretive practice can be analyzed across socially organized circumstances, such as race, class, age, or gender. Interpretation responds to multiple layers of constraints and resources, making it impossible to be dictated by a single source.</a:t>
            </a:r>
            <a:endParaRPr lang="en-US" sz="16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95B2A947-56D0-AB94-03F2-AB0F2D1A866D}"/>
              </a:ext>
            </a:extLst>
          </p:cNvPr>
          <p:cNvSpPr>
            <a:spLocks noGrp="1"/>
          </p:cNvSpPr>
          <p:nvPr>
            <p:ph type="sldNum" sz="quarter" idx="12"/>
          </p:nvPr>
        </p:nvSpPr>
        <p:spPr/>
        <p:txBody>
          <a:bodyPr/>
          <a:lstStyle/>
          <a:p>
            <a:fld id="{A49DFD55-3C28-40EF-9E31-A92D2E4017FF}" type="slidenum">
              <a:rPr lang="en-US" smtClean="0"/>
              <a:pPr/>
              <a:t>8</a:t>
            </a:fld>
            <a:endParaRPr lang="en-US"/>
          </a:p>
        </p:txBody>
      </p:sp>
      <p:pic>
        <p:nvPicPr>
          <p:cNvPr id="7" name="Picture 6" descr="A group of people holding a baby&#10;&#10;Description automatically generated with low confidence">
            <a:extLst>
              <a:ext uri="{FF2B5EF4-FFF2-40B4-BE49-F238E27FC236}">
                <a16:creationId xmlns:a16="http://schemas.microsoft.com/office/drawing/2014/main" id="{D114049B-7F24-ECAF-2FCB-42AF3D2BC149}"/>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19021524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0836E-820E-0C4C-3ECA-0BC0034CC4C4}"/>
              </a:ext>
            </a:extLst>
          </p:cNvPr>
          <p:cNvSpPr>
            <a:spLocks noGrp="1"/>
          </p:cNvSpPr>
          <p:nvPr>
            <p:ph type="title"/>
          </p:nvPr>
        </p:nvSpPr>
        <p:spPr>
          <a:xfrm>
            <a:off x="728410" y="729914"/>
            <a:ext cx="5111750" cy="476499"/>
          </a:xfrm>
        </p:spPr>
        <p:txBody>
          <a:bodyPr>
            <a:normAutofit fontScale="90000"/>
          </a:bodyPr>
          <a:lstStyle/>
          <a:p>
            <a:r>
              <a:rPr lang="en-US" b="0" i="0">
                <a:effectLst/>
                <a:latin typeface="Times New Roman" panose="02020603050405020304" pitchFamily="18" charset="0"/>
              </a:rPr>
              <a:t>CONTINUING CONCERNS</a:t>
            </a:r>
            <a:br>
              <a:rPr lang="en-US"/>
            </a:br>
            <a:endParaRPr lang="en-US"/>
          </a:p>
        </p:txBody>
      </p:sp>
      <p:sp>
        <p:nvSpPr>
          <p:cNvPr id="3" name="Text Placeholder 2">
            <a:extLst>
              <a:ext uri="{FF2B5EF4-FFF2-40B4-BE49-F238E27FC236}">
                <a16:creationId xmlns:a16="http://schemas.microsoft.com/office/drawing/2014/main" id="{D3BC6546-CC9C-49AA-5FB3-0621BF284162}"/>
              </a:ext>
            </a:extLst>
          </p:cNvPr>
          <p:cNvSpPr>
            <a:spLocks noGrp="1"/>
          </p:cNvSpPr>
          <p:nvPr>
            <p:ph type="body" idx="1"/>
          </p:nvPr>
        </p:nvSpPr>
        <p:spPr>
          <a:xfrm>
            <a:off x="728410" y="1970588"/>
            <a:ext cx="6915653" cy="3788527"/>
          </a:xfrm>
        </p:spPr>
        <p:txBody>
          <a:bodyPr>
            <a:noAutofit/>
          </a:bodyPr>
          <a:lstStyle/>
          <a:p>
            <a:r>
              <a:rPr lang="en-US" sz="1500" b="0" i="0">
                <a:solidFill>
                  <a:srgbClr val="374151"/>
                </a:solidFill>
                <a:effectLst/>
                <a:latin typeface="Times New Roman" panose="02020603050405020304" pitchFamily="18" charset="0"/>
                <a:cs typeface="Times New Roman" panose="02020603050405020304" pitchFamily="18" charset="0"/>
              </a:rPr>
              <a:t>       Our approach to family discourse focuses on the assignment of meaning to relationships through talk and interaction. It acknowledges that social relations are complex, subject to interpretation, and not fixed in meaning. </a:t>
            </a:r>
          </a:p>
          <a:p>
            <a:endParaRPr lang="en-US" sz="200" b="0" i="0">
              <a:solidFill>
                <a:srgbClr val="374151"/>
              </a:solidFill>
              <a:effectLst/>
              <a:latin typeface="Times New Roman" panose="02020603050405020304" pitchFamily="18" charset="0"/>
              <a:cs typeface="Times New Roman" panose="02020603050405020304" pitchFamily="18" charset="0"/>
            </a:endParaRPr>
          </a:p>
          <a:p>
            <a:r>
              <a:rPr lang="en-US" sz="1500">
                <a:solidFill>
                  <a:srgbClr val="374151"/>
                </a:solidFill>
                <a:latin typeface="Times New Roman" panose="02020603050405020304" pitchFamily="18" charset="0"/>
                <a:cs typeface="Times New Roman" panose="02020603050405020304" pitchFamily="18" charset="0"/>
              </a:rPr>
              <a:t>      </a:t>
            </a:r>
            <a:r>
              <a:rPr lang="en-US" sz="1500" b="0" i="0">
                <a:solidFill>
                  <a:srgbClr val="374151"/>
                </a:solidFill>
                <a:effectLst/>
                <a:latin typeface="Times New Roman" panose="02020603050405020304" pitchFamily="18" charset="0"/>
                <a:cs typeface="Times New Roman" panose="02020603050405020304" pitchFamily="18" charset="0"/>
              </a:rPr>
              <a:t> The constructionist researcher should be open to exploring familial terms in various contexts beyond the household. The study of family construction does not imply interpretive chaos but requires attention to the cultural and institutional contexts in which familial designations are used.</a:t>
            </a:r>
          </a:p>
          <a:p>
            <a:endParaRPr lang="en-US" sz="200" b="0" i="0">
              <a:solidFill>
                <a:srgbClr val="374151"/>
              </a:solidFill>
              <a:effectLst/>
              <a:latin typeface="Times New Roman" panose="02020603050405020304" pitchFamily="18" charset="0"/>
              <a:cs typeface="Times New Roman" panose="02020603050405020304" pitchFamily="18" charset="0"/>
            </a:endParaRPr>
          </a:p>
          <a:p>
            <a:r>
              <a:rPr lang="en-US" sz="1500" b="0" i="0">
                <a:solidFill>
                  <a:srgbClr val="374151"/>
                </a:solidFill>
                <a:effectLst/>
                <a:latin typeface="Times New Roman" panose="02020603050405020304" pitchFamily="18" charset="0"/>
                <a:cs typeface="Times New Roman" panose="02020603050405020304" pitchFamily="18" charset="0"/>
              </a:rPr>
              <a:t>      The use of terms like "mother" carries cultural mediations and affects interpersonal sentiments and obligations. Cultural configurations and shared cognitive and affective linkages categorize our relationships, organizing our actions and emotions. Constructionist researchers should document family-constructing practices while considering the circumstances that shape interpretation.</a:t>
            </a:r>
            <a:endParaRPr lang="en-US" sz="15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402104F7-4B62-1D5D-2B32-F393B3CD7F6B}"/>
              </a:ext>
            </a:extLst>
          </p:cNvPr>
          <p:cNvSpPr>
            <a:spLocks noGrp="1"/>
          </p:cNvSpPr>
          <p:nvPr>
            <p:ph type="sldNum" sz="quarter" idx="12"/>
          </p:nvPr>
        </p:nvSpPr>
        <p:spPr/>
        <p:txBody>
          <a:bodyPr/>
          <a:lstStyle/>
          <a:p>
            <a:fld id="{A49DFD55-3C28-40EF-9E31-A92D2E4017FF}" type="slidenum">
              <a:rPr lang="en-US" smtClean="0"/>
              <a:pPr/>
              <a:t>9</a:t>
            </a:fld>
            <a:endParaRPr lang="en-US"/>
          </a:p>
        </p:txBody>
      </p:sp>
      <p:sp>
        <p:nvSpPr>
          <p:cNvPr id="7" name="Title 1">
            <a:extLst>
              <a:ext uri="{FF2B5EF4-FFF2-40B4-BE49-F238E27FC236}">
                <a16:creationId xmlns:a16="http://schemas.microsoft.com/office/drawing/2014/main" id="{F16451F3-A847-BE37-9898-B5FD8420DF37}"/>
              </a:ext>
            </a:extLst>
          </p:cNvPr>
          <p:cNvSpPr txBox="1">
            <a:spLocks/>
          </p:cNvSpPr>
          <p:nvPr/>
        </p:nvSpPr>
        <p:spPr>
          <a:xfrm>
            <a:off x="728410" y="1206413"/>
            <a:ext cx="5111750" cy="476499"/>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US" sz="2000" b="0" i="0">
                <a:solidFill>
                  <a:srgbClr val="374151"/>
                </a:solidFill>
                <a:effectLst/>
                <a:latin typeface="Times New Roman" panose="02020603050405020304" pitchFamily="18" charset="0"/>
                <a:cs typeface="Times New Roman" panose="02020603050405020304" pitchFamily="18" charset="0"/>
              </a:rPr>
              <a:t>Methodological Concerns</a:t>
            </a:r>
            <a:endParaRPr lang="en-US" sz="2000">
              <a:latin typeface="Times New Roman" panose="02020603050405020304" pitchFamily="18" charset="0"/>
              <a:cs typeface="Times New Roman" panose="02020603050405020304" pitchFamily="18" charset="0"/>
            </a:endParaRPr>
          </a:p>
        </p:txBody>
      </p:sp>
      <p:pic>
        <p:nvPicPr>
          <p:cNvPr id="8" name="Picture 7" descr="A group of people holding a baby&#10;&#10;Description automatically generated with low confidence">
            <a:extLst>
              <a:ext uri="{FF2B5EF4-FFF2-40B4-BE49-F238E27FC236}">
                <a16:creationId xmlns:a16="http://schemas.microsoft.com/office/drawing/2014/main" id="{CBD4EEF8-0DC2-C662-944A-B10C18435D80}"/>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334833928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3E6D158-10BF-372A-CEA8-430EA152CABC}"/>
              </a:ext>
            </a:extLst>
          </p:cNvPr>
          <p:cNvSpPr>
            <a:spLocks noGrp="1"/>
          </p:cNvSpPr>
          <p:nvPr>
            <p:ph type="sldNum" sz="quarter" idx="12"/>
          </p:nvPr>
        </p:nvSpPr>
        <p:spPr/>
        <p:txBody>
          <a:bodyPr/>
          <a:lstStyle/>
          <a:p>
            <a:fld id="{A49DFD55-3C28-40EF-9E31-A92D2E4017FF}" type="slidenum">
              <a:rPr lang="en-US" smtClean="0"/>
              <a:pPr/>
              <a:t>10</a:t>
            </a:fld>
            <a:endParaRPr lang="en-US"/>
          </a:p>
        </p:txBody>
      </p:sp>
      <p:sp>
        <p:nvSpPr>
          <p:cNvPr id="11" name="Text Placeholder 2">
            <a:extLst>
              <a:ext uri="{FF2B5EF4-FFF2-40B4-BE49-F238E27FC236}">
                <a16:creationId xmlns:a16="http://schemas.microsoft.com/office/drawing/2014/main" id="{09D603FB-0047-8EBF-23F7-2FA1FD9E0059}"/>
              </a:ext>
            </a:extLst>
          </p:cNvPr>
          <p:cNvSpPr txBox="1">
            <a:spLocks/>
          </p:cNvSpPr>
          <p:nvPr/>
        </p:nvSpPr>
        <p:spPr>
          <a:xfrm>
            <a:off x="535905" y="1714915"/>
            <a:ext cx="7300663" cy="4180559"/>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500" b="0" i="0">
                <a:solidFill>
                  <a:srgbClr val="374151"/>
                </a:solidFill>
                <a:effectLst/>
                <a:latin typeface="Times New Roman" panose="02020603050405020304" pitchFamily="18" charset="0"/>
                <a:cs typeface="Times New Roman" panose="02020603050405020304" pitchFamily="18" charset="0"/>
              </a:rPr>
              <a:t>           The constructionist approach to family raises questions about the concrete sense of family and its existence as a real social entity. Constructionists use a method called "</a:t>
            </a:r>
            <a:r>
              <a:rPr lang="en-US" sz="1500" b="1" i="0">
                <a:solidFill>
                  <a:srgbClr val="374151"/>
                </a:solidFill>
                <a:effectLst/>
                <a:latin typeface="Times New Roman" panose="02020603050405020304" pitchFamily="18" charset="0"/>
                <a:cs typeface="Times New Roman" panose="02020603050405020304" pitchFamily="18" charset="0"/>
              </a:rPr>
              <a:t>analytic bracketing</a:t>
            </a:r>
            <a:r>
              <a:rPr lang="en-US" sz="1500" b="0" i="0">
                <a:solidFill>
                  <a:srgbClr val="374151"/>
                </a:solidFill>
                <a:effectLst/>
                <a:latin typeface="Times New Roman" panose="02020603050405020304" pitchFamily="18" charset="0"/>
                <a:cs typeface="Times New Roman" panose="02020603050405020304" pitchFamily="18" charset="0"/>
              </a:rPr>
              <a:t>" to temporarily suspend belief in the substantive reality of social forms and focus on how meanings are constructed. </a:t>
            </a:r>
          </a:p>
          <a:p>
            <a:r>
              <a:rPr lang="en-US" sz="1500" b="0" i="0">
                <a:solidFill>
                  <a:srgbClr val="374151"/>
                </a:solidFill>
                <a:effectLst/>
                <a:latin typeface="Times New Roman" panose="02020603050405020304" pitchFamily="18" charset="0"/>
                <a:cs typeface="Times New Roman" panose="02020603050405020304" pitchFamily="18" charset="0"/>
              </a:rPr>
              <a:t>          They are actually more concerned with the </a:t>
            </a:r>
            <a:r>
              <a:rPr lang="en-US" sz="1500" i="0">
                <a:solidFill>
                  <a:srgbClr val="374151"/>
                </a:solidFill>
                <a:effectLst/>
                <a:latin typeface="Times New Roman" panose="02020603050405020304" pitchFamily="18" charset="0"/>
                <a:cs typeface="Times New Roman" panose="02020603050405020304" pitchFamily="18" charset="0"/>
              </a:rPr>
              <a:t>substantive</a:t>
            </a:r>
            <a:r>
              <a:rPr lang="en-US" sz="1500" b="0" i="0">
                <a:solidFill>
                  <a:srgbClr val="374151"/>
                </a:solidFill>
                <a:effectLst/>
                <a:latin typeface="Times New Roman" panose="02020603050405020304" pitchFamily="18" charset="0"/>
                <a:cs typeface="Times New Roman" panose="02020603050405020304" pitchFamily="18" charset="0"/>
              </a:rPr>
              <a:t> reality of the family than other theorists, examining how it is discursively asserted and challenging assumptions about its traditional form. Constructionists explore family discourse and related talk beyond households, looking for instances where family is made a topic of discussion in various contexts. They aim to understand how the substance of family life is created through talk and interaction. </a:t>
            </a:r>
          </a:p>
          <a:p>
            <a:endParaRPr lang="en-US" sz="1500" b="0" i="0">
              <a:solidFill>
                <a:srgbClr val="374151"/>
              </a:solidFill>
              <a:effectLst/>
              <a:latin typeface="Times New Roman" panose="02020603050405020304" pitchFamily="18" charset="0"/>
              <a:cs typeface="Times New Roman" panose="02020603050405020304" pitchFamily="18" charset="0"/>
            </a:endParaRPr>
          </a:p>
          <a:p>
            <a:r>
              <a:rPr lang="en-US" sz="1500" b="0" i="0">
                <a:solidFill>
                  <a:srgbClr val="374151"/>
                </a:solidFill>
                <a:effectLst/>
                <a:latin typeface="Times New Roman" panose="02020603050405020304" pitchFamily="18" charset="0"/>
                <a:cs typeface="Times New Roman" panose="02020603050405020304" pitchFamily="18" charset="0"/>
              </a:rPr>
              <a:t>            This deprivatization of the familial has led to a widespread presence of family and its associated social forms in contemporary life, influencing politics, domesticity, relationships, and personal narratives. Through the use of </a:t>
            </a:r>
            <a:r>
              <a:rPr lang="en-US" sz="1500" b="1" i="0">
                <a:solidFill>
                  <a:srgbClr val="374151"/>
                </a:solidFill>
                <a:effectLst/>
                <a:latin typeface="Times New Roman" panose="02020603050405020304" pitchFamily="18" charset="0"/>
                <a:cs typeface="Times New Roman" panose="02020603050405020304" pitchFamily="18" charset="0"/>
              </a:rPr>
              <a:t>bracketing</a:t>
            </a:r>
            <a:r>
              <a:rPr lang="en-US" sz="1500" b="0" i="0">
                <a:solidFill>
                  <a:srgbClr val="374151"/>
                </a:solidFill>
                <a:effectLst/>
                <a:latin typeface="Times New Roman" panose="02020603050405020304" pitchFamily="18" charset="0"/>
                <a:cs typeface="Times New Roman" panose="02020603050405020304" pitchFamily="18" charset="0"/>
              </a:rPr>
              <a:t>, constructionist researchers seek to depict the essence of family life and explore how it acquires a feeling of concreteness.</a:t>
            </a:r>
            <a:endParaRPr lang="en-US" sz="1500">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008DA843-A164-B04F-C475-6906DF107A2E}"/>
              </a:ext>
            </a:extLst>
          </p:cNvPr>
          <p:cNvSpPr txBox="1">
            <a:spLocks/>
          </p:cNvSpPr>
          <p:nvPr/>
        </p:nvSpPr>
        <p:spPr>
          <a:xfrm>
            <a:off x="535905" y="769937"/>
            <a:ext cx="5111750" cy="476499"/>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US" sz="2000">
                <a:solidFill>
                  <a:srgbClr val="374151"/>
                </a:solidFill>
                <a:latin typeface="Times New Roman" panose="02020603050405020304" pitchFamily="18" charset="0"/>
                <a:cs typeface="Times New Roman" panose="02020603050405020304" pitchFamily="18" charset="0"/>
              </a:rPr>
              <a:t>Substantive Concerns</a:t>
            </a:r>
            <a:endParaRPr lang="en-US" sz="2000" dirty="0">
              <a:solidFill>
                <a:srgbClr val="374151"/>
              </a:solidFill>
              <a:latin typeface="Times New Roman" panose="02020603050405020304" pitchFamily="18" charset="0"/>
              <a:cs typeface="Times New Roman" panose="02020603050405020304" pitchFamily="18" charset="0"/>
            </a:endParaRPr>
          </a:p>
        </p:txBody>
      </p:sp>
      <p:pic>
        <p:nvPicPr>
          <p:cNvPr id="16" name="Picture 15" descr="A group of people holding a baby&#10;&#10;Description automatically generated with low confidence">
            <a:extLst>
              <a:ext uri="{FF2B5EF4-FFF2-40B4-BE49-F238E27FC236}">
                <a16:creationId xmlns:a16="http://schemas.microsoft.com/office/drawing/2014/main" id="{5AA097DD-65C4-ED73-B88F-AD878E2FC490}"/>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274699292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7FEA-93C3-5B3A-F114-D163A66D5F7E}"/>
              </a:ext>
            </a:extLst>
          </p:cNvPr>
          <p:cNvSpPr>
            <a:spLocks noGrp="1"/>
          </p:cNvSpPr>
          <p:nvPr>
            <p:ph type="title"/>
          </p:nvPr>
        </p:nvSpPr>
        <p:spPr>
          <a:xfrm>
            <a:off x="391527" y="274222"/>
            <a:ext cx="5111750" cy="600073"/>
          </a:xfrm>
        </p:spPr>
        <p:txBody>
          <a:bodyPr>
            <a:normAutofit/>
          </a:bodyPr>
          <a:lstStyle/>
          <a:p>
            <a:r>
              <a:rPr lang="en-US" sz="2000" b="0" i="0">
                <a:effectLst/>
                <a:latin typeface="Times New Roman" panose="02020603050405020304" pitchFamily="18" charset="0"/>
              </a:rPr>
              <a:t>Theoretical Concerns</a:t>
            </a:r>
            <a:endParaRPr lang="en-US" sz="2000"/>
          </a:p>
        </p:txBody>
      </p:sp>
      <p:sp>
        <p:nvSpPr>
          <p:cNvPr id="3" name="Text Placeholder 2">
            <a:extLst>
              <a:ext uri="{FF2B5EF4-FFF2-40B4-BE49-F238E27FC236}">
                <a16:creationId xmlns:a16="http://schemas.microsoft.com/office/drawing/2014/main" id="{00829EE5-25AD-1CAF-CD84-4D599A789764}"/>
              </a:ext>
            </a:extLst>
          </p:cNvPr>
          <p:cNvSpPr>
            <a:spLocks noGrp="1"/>
          </p:cNvSpPr>
          <p:nvPr>
            <p:ph type="body" idx="1"/>
          </p:nvPr>
        </p:nvSpPr>
        <p:spPr>
          <a:xfrm>
            <a:off x="391527" y="1432551"/>
            <a:ext cx="7693693" cy="3992898"/>
          </a:xfrm>
        </p:spPr>
        <p:txBody>
          <a:bodyPr>
            <a:noAutofit/>
          </a:bodyPr>
          <a:lstStyle/>
          <a:p>
            <a:r>
              <a:rPr lang="en-US" sz="1500">
                <a:solidFill>
                  <a:srgbClr val="374151"/>
                </a:solidFill>
                <a:latin typeface="Times New Roman" panose="02020603050405020304" pitchFamily="18" charset="0"/>
                <a:cs typeface="Times New Roman" panose="02020603050405020304" pitchFamily="18" charset="0"/>
              </a:rPr>
              <a:t>           </a:t>
            </a:r>
            <a:r>
              <a:rPr lang="en-US" sz="1500" b="0" i="0">
                <a:solidFill>
                  <a:srgbClr val="374151"/>
                </a:solidFill>
                <a:effectLst/>
                <a:latin typeface="Times New Roman" panose="02020603050405020304" pitchFamily="18" charset="0"/>
                <a:cs typeface="Times New Roman" panose="02020603050405020304" pitchFamily="18" charset="0"/>
              </a:rPr>
              <a:t>Concerns arise regarding the theoretical nature of the constructionist approach, prompting questions about its type of theory. This approach involves analyzing everyday life and social forms by focusing on how individuals interpret and assign meaning to their familial relationships.</a:t>
            </a:r>
          </a:p>
          <a:p>
            <a:r>
              <a:rPr lang="en-US" sz="1500" b="0" i="0">
                <a:solidFill>
                  <a:srgbClr val="374151"/>
                </a:solidFill>
                <a:effectLst/>
                <a:latin typeface="Times New Roman" panose="02020603050405020304" pitchFamily="18" charset="0"/>
                <a:cs typeface="Times New Roman" panose="02020603050405020304" pitchFamily="18" charset="0"/>
              </a:rPr>
              <a:t> </a:t>
            </a:r>
          </a:p>
          <a:p>
            <a:r>
              <a:rPr lang="en-US" sz="1500" b="0" i="0">
                <a:solidFill>
                  <a:srgbClr val="374151"/>
                </a:solidFill>
                <a:effectLst/>
                <a:latin typeface="Times New Roman" panose="02020603050405020304" pitchFamily="18" charset="0"/>
                <a:cs typeface="Times New Roman" panose="02020603050405020304" pitchFamily="18" charset="0"/>
              </a:rPr>
              <a:t>It aims to understand how people use theory in their daily lives to explain past events, current situations, and future expectations. Unlike social sciences that often dismiss common knowledge, constructionism values and documents ordinary knowledge to comprehend how individuals perceive and construct family concepts. </a:t>
            </a:r>
          </a:p>
          <a:p>
            <a:r>
              <a:rPr lang="en-US" sz="1500">
                <a:solidFill>
                  <a:srgbClr val="374151"/>
                </a:solidFill>
                <a:latin typeface="Times New Roman" panose="02020603050405020304" pitchFamily="18" charset="0"/>
                <a:cs typeface="Times New Roman" panose="02020603050405020304" pitchFamily="18" charset="0"/>
              </a:rPr>
              <a:t>	</a:t>
            </a:r>
          </a:p>
          <a:p>
            <a:r>
              <a:rPr lang="en-US" sz="1500" b="0" i="0">
                <a:solidFill>
                  <a:srgbClr val="374151"/>
                </a:solidFill>
                <a:effectLst/>
                <a:latin typeface="Times New Roman" panose="02020603050405020304" pitchFamily="18" charset="0"/>
                <a:cs typeface="Times New Roman" panose="02020603050405020304" pitchFamily="18" charset="0"/>
              </a:rPr>
              <a:t>        </a:t>
            </a:r>
            <a:r>
              <a:rPr lang="en-US" sz="1500" b="0" i="1">
                <a:solidFill>
                  <a:srgbClr val="374151"/>
                </a:solidFill>
                <a:effectLst/>
                <a:latin typeface="Times New Roman" panose="02020603050405020304" pitchFamily="18" charset="0"/>
                <a:cs typeface="Times New Roman" panose="02020603050405020304" pitchFamily="18" charset="0"/>
              </a:rPr>
              <a:t>Analytic neutrality </a:t>
            </a:r>
            <a:r>
              <a:rPr lang="en-US" sz="1500" b="0" i="0">
                <a:solidFill>
                  <a:srgbClr val="374151"/>
                </a:solidFill>
                <a:effectLst/>
                <a:latin typeface="Times New Roman" panose="02020603050405020304" pitchFamily="18" charset="0"/>
                <a:cs typeface="Times New Roman" panose="02020603050405020304" pitchFamily="18" charset="0"/>
              </a:rPr>
              <a:t>is crucial, treating everyone's understanding of family as practical and subjective without judgment or evaluation. This approach raises various inquiries about the origins of familial definitions, the influence of local conditions on such definitions, the interactional dynamics within families, and the relationship between rhetoric and reality in interpreting family life.</a:t>
            </a:r>
            <a:endParaRPr lang="en-US" sz="150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EBD7E7B3-8B28-6774-1B3E-531C936F1EA9}"/>
              </a:ext>
            </a:extLst>
          </p:cNvPr>
          <p:cNvSpPr>
            <a:spLocks noGrp="1"/>
          </p:cNvSpPr>
          <p:nvPr>
            <p:ph type="sldNum" sz="quarter" idx="12"/>
          </p:nvPr>
        </p:nvSpPr>
        <p:spPr/>
        <p:txBody>
          <a:bodyPr/>
          <a:lstStyle/>
          <a:p>
            <a:fld id="{A49DFD55-3C28-40EF-9E31-A92D2E4017FF}" type="slidenum">
              <a:rPr lang="en-US" smtClean="0"/>
              <a:pPr/>
              <a:t>11</a:t>
            </a:fld>
            <a:endParaRPr lang="en-US"/>
          </a:p>
        </p:txBody>
      </p:sp>
      <p:pic>
        <p:nvPicPr>
          <p:cNvPr id="7" name="Picture 6" descr="A group of people holding a baby&#10;&#10;Description automatically generated with low confidence">
            <a:extLst>
              <a:ext uri="{FF2B5EF4-FFF2-40B4-BE49-F238E27FC236}">
                <a16:creationId xmlns:a16="http://schemas.microsoft.com/office/drawing/2014/main" id="{42525872-7005-85FB-51C9-4F46ACC8D63A}"/>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131254423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8F66-AD33-D80D-E28F-2785BA781413}"/>
              </a:ext>
            </a:extLst>
          </p:cNvPr>
          <p:cNvSpPr>
            <a:spLocks noGrp="1"/>
          </p:cNvSpPr>
          <p:nvPr>
            <p:ph type="title"/>
          </p:nvPr>
        </p:nvSpPr>
        <p:spPr>
          <a:xfrm>
            <a:off x="648201" y="588963"/>
            <a:ext cx="5111750" cy="550027"/>
          </a:xfrm>
        </p:spPr>
        <p:txBody>
          <a:bodyPr/>
          <a:lstStyle/>
          <a:p>
            <a:r>
              <a:rPr lang="en-US" b="0" i="0">
                <a:effectLst/>
                <a:latin typeface="Times New Roman" panose="02020603050405020304" pitchFamily="18" charset="0"/>
              </a:rPr>
              <a:t>Practical Concerns</a:t>
            </a:r>
            <a:endParaRPr lang="en-US"/>
          </a:p>
        </p:txBody>
      </p:sp>
      <p:sp>
        <p:nvSpPr>
          <p:cNvPr id="3" name="Text Placeholder 2">
            <a:extLst>
              <a:ext uri="{FF2B5EF4-FFF2-40B4-BE49-F238E27FC236}">
                <a16:creationId xmlns:a16="http://schemas.microsoft.com/office/drawing/2014/main" id="{CB8A0D06-75F5-C72E-8516-6E47D7C52298}"/>
              </a:ext>
            </a:extLst>
          </p:cNvPr>
          <p:cNvSpPr>
            <a:spLocks noGrp="1"/>
          </p:cNvSpPr>
          <p:nvPr>
            <p:ph type="body" idx="1"/>
          </p:nvPr>
        </p:nvSpPr>
        <p:spPr>
          <a:xfrm>
            <a:off x="295275" y="2193506"/>
            <a:ext cx="7653589" cy="3942599"/>
          </a:xfrm>
        </p:spPr>
        <p:txBody>
          <a:bodyPr>
            <a:noAutofit/>
          </a:bodyPr>
          <a:lstStyle/>
          <a:p>
            <a:r>
              <a:rPr lang="en-US" b="0" i="0">
                <a:solidFill>
                  <a:srgbClr val="374151"/>
                </a:solidFill>
                <a:effectLst/>
                <a:latin typeface="Times New Roman" panose="02020603050405020304" pitchFamily="18" charset="0"/>
                <a:cs typeface="Times New Roman" panose="02020603050405020304" pitchFamily="18" charset="0"/>
              </a:rPr>
              <a:t>    One concern related to the constructionist approach is its practical implications. The approach challenges the fixed connection between how we talk about family life and the perceived reality of the family. It questions whether the social reality of the family should be represented by a specific social form or in terms of diverse social relationships. </a:t>
            </a:r>
          </a:p>
          <a:p>
            <a:r>
              <a:rPr lang="en-US" b="0" i="0">
                <a:solidFill>
                  <a:srgbClr val="374151"/>
                </a:solidFill>
                <a:effectLst/>
                <a:latin typeface="Times New Roman" panose="02020603050405020304" pitchFamily="18" charset="0"/>
                <a:cs typeface="Times New Roman" panose="02020603050405020304" pitchFamily="18" charset="0"/>
              </a:rPr>
              <a:t>      Conservatives argue for a particular reality centered around the nuclear family, while liberals embrace a wide variety of familial structures, including same-sex marriages. The constructionist approach moves beyond these perspectives and explores the interpretive practices of family life, recognizing the complexity of family reality itself.</a:t>
            </a:r>
          </a:p>
          <a:p>
            <a:r>
              <a:rPr lang="en-US" b="0" i="0">
                <a:solidFill>
                  <a:srgbClr val="374151"/>
                </a:solidFill>
                <a:effectLst/>
                <a:latin typeface="Times New Roman" panose="02020603050405020304" pitchFamily="18" charset="0"/>
                <a:cs typeface="Times New Roman" panose="02020603050405020304" pitchFamily="18" charset="0"/>
              </a:rPr>
              <a:t>        It examines how the reality of the traditional family is assigned substance and represented as foundational, as well as how a common reality of family is represented in diverse interpersonal relationships. By tracing family's interpretive practices across political views, it aims to document how family is assigned meaning and experienced as a social form.</a:t>
            </a:r>
          </a:p>
          <a:p>
            <a:r>
              <a:rPr lang="en-US" b="0" i="0">
                <a:solidFill>
                  <a:srgbClr val="374151"/>
                </a:solidFill>
                <a:effectLst/>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248BC3F-E178-0F7E-5C71-91337E1ABF2D}"/>
              </a:ext>
            </a:extLst>
          </p:cNvPr>
          <p:cNvSpPr>
            <a:spLocks noGrp="1"/>
          </p:cNvSpPr>
          <p:nvPr>
            <p:ph type="sldNum" sz="quarter" idx="12"/>
          </p:nvPr>
        </p:nvSpPr>
        <p:spPr/>
        <p:txBody>
          <a:bodyPr/>
          <a:lstStyle/>
          <a:p>
            <a:fld id="{A49DFD55-3C28-40EF-9E31-A92D2E4017FF}" type="slidenum">
              <a:rPr lang="en-US" smtClean="0"/>
              <a:pPr/>
              <a:t>12</a:t>
            </a:fld>
            <a:endParaRPr lang="en-US"/>
          </a:p>
        </p:txBody>
      </p:sp>
      <p:pic>
        <p:nvPicPr>
          <p:cNvPr id="7" name="Picture 6" descr="A group of people holding a baby&#10;&#10;Description automatically generated with low confidence">
            <a:extLst>
              <a:ext uri="{FF2B5EF4-FFF2-40B4-BE49-F238E27FC236}">
                <a16:creationId xmlns:a16="http://schemas.microsoft.com/office/drawing/2014/main" id="{22BB9CDC-4750-A662-4F3F-03BB735F0966}"/>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283872832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025CD7-8C7E-957E-BBC3-1F9CFD8D9CFF}"/>
              </a:ext>
            </a:extLst>
          </p:cNvPr>
          <p:cNvSpPr>
            <a:spLocks noGrp="1"/>
          </p:cNvSpPr>
          <p:nvPr>
            <p:ph type="body" idx="1"/>
          </p:nvPr>
        </p:nvSpPr>
        <p:spPr>
          <a:xfrm>
            <a:off x="267201" y="1588170"/>
            <a:ext cx="8596062" cy="2839452"/>
          </a:xfrm>
        </p:spPr>
        <p:txBody>
          <a:bodyPr>
            <a:noAutofit/>
          </a:bodyPr>
          <a:lstStyle/>
          <a:p>
            <a:pPr>
              <a:lnSpc>
                <a:spcPct val="150000"/>
              </a:lnSpc>
            </a:pPr>
            <a:r>
              <a:rPr lang="en-US">
                <a:solidFill>
                  <a:srgbClr val="374151"/>
                </a:solidFill>
                <a:latin typeface="Times New Roman" panose="02020603050405020304" pitchFamily="18" charset="0"/>
                <a:cs typeface="Times New Roman" panose="02020603050405020304" pitchFamily="18" charset="0"/>
              </a:rPr>
              <a:t>	</a:t>
            </a:r>
            <a:r>
              <a:rPr lang="en-US" b="0" i="0">
                <a:solidFill>
                  <a:srgbClr val="374151"/>
                </a:solidFill>
                <a:effectLst/>
                <a:latin typeface="Times New Roman" panose="02020603050405020304" pitchFamily="18" charset="0"/>
                <a:cs typeface="Times New Roman" panose="02020603050405020304" pitchFamily="18" charset="0"/>
              </a:rPr>
              <a:t>The approach provides a basis for understanding the justifications behind conservative claims to acceptable familial forms and sheds light on the persuasive strategies used by liberals. </a:t>
            </a:r>
          </a:p>
          <a:p>
            <a:pPr>
              <a:lnSpc>
                <a:spcPct val="150000"/>
              </a:lnSpc>
            </a:pPr>
            <a:r>
              <a:rPr lang="en-US" b="0" i="0">
                <a:solidFill>
                  <a:srgbClr val="374151"/>
                </a:solidFill>
                <a:effectLst/>
                <a:latin typeface="Times New Roman" panose="02020603050405020304" pitchFamily="18" charset="0"/>
                <a:cs typeface="Times New Roman" panose="02020603050405020304" pitchFamily="18" charset="0"/>
              </a:rPr>
              <a:t>         It offers a vantage point for evaluating social policy options and deconstructs the parameters of the political debate, allowing for a critical analysis of the objects of discussion and the rhetoric used to construct them. </a:t>
            </a:r>
          </a:p>
          <a:p>
            <a:pPr>
              <a:lnSpc>
                <a:spcPct val="150000"/>
              </a:lnSpc>
            </a:pPr>
            <a:r>
              <a:rPr lang="en-US">
                <a:solidFill>
                  <a:srgbClr val="374151"/>
                </a:solidFill>
                <a:latin typeface="Times New Roman" panose="02020603050405020304" pitchFamily="18" charset="0"/>
                <a:cs typeface="Times New Roman" panose="02020603050405020304" pitchFamily="18" charset="0"/>
              </a:rPr>
              <a:t>         </a:t>
            </a:r>
            <a:r>
              <a:rPr lang="en-US" b="0" i="0">
                <a:solidFill>
                  <a:srgbClr val="374151"/>
                </a:solidFill>
                <a:effectLst/>
                <a:latin typeface="Times New Roman" panose="02020603050405020304" pitchFamily="18" charset="0"/>
                <a:cs typeface="Times New Roman" panose="02020603050405020304" pitchFamily="18" charset="0"/>
              </a:rPr>
              <a:t>Ultimately, it allows individuals to make personal, moral choices without being bound by essentialist claims, including recognizing the importance of same-sex marriages in our understanding of family.</a:t>
            </a:r>
            <a:endParaRPr lang="en-US"/>
          </a:p>
        </p:txBody>
      </p:sp>
      <p:sp>
        <p:nvSpPr>
          <p:cNvPr id="6" name="Slide Number Placeholder 5">
            <a:extLst>
              <a:ext uri="{FF2B5EF4-FFF2-40B4-BE49-F238E27FC236}">
                <a16:creationId xmlns:a16="http://schemas.microsoft.com/office/drawing/2014/main" id="{D8C6F2F9-39E0-7BFD-BEE9-A4C01CF0F81E}"/>
              </a:ext>
            </a:extLst>
          </p:cNvPr>
          <p:cNvSpPr>
            <a:spLocks noGrp="1"/>
          </p:cNvSpPr>
          <p:nvPr>
            <p:ph type="sldNum" sz="quarter" idx="12"/>
          </p:nvPr>
        </p:nvSpPr>
        <p:spPr/>
        <p:txBody>
          <a:bodyPr/>
          <a:lstStyle/>
          <a:p>
            <a:fld id="{A49DFD55-3C28-40EF-9E31-A92D2E4017FF}" type="slidenum">
              <a:rPr lang="en-US" smtClean="0"/>
              <a:pPr/>
              <a:t>13</a:t>
            </a:fld>
            <a:endParaRPr lang="en-US"/>
          </a:p>
        </p:txBody>
      </p:sp>
      <p:pic>
        <p:nvPicPr>
          <p:cNvPr id="7" name="Picture 6" descr="A group of people holding a baby&#10;&#10;Description automatically generated with low confidence">
            <a:extLst>
              <a:ext uri="{FF2B5EF4-FFF2-40B4-BE49-F238E27FC236}">
                <a16:creationId xmlns:a16="http://schemas.microsoft.com/office/drawing/2014/main" id="{9E5B388E-2054-447E-6B0A-9A1D95750FC9}"/>
              </a:ext>
            </a:extLst>
          </p:cNvPr>
          <p:cNvPicPr>
            <a:picLocks noChangeAspect="1"/>
          </p:cNvPicPr>
          <p:nvPr/>
        </p:nvPicPr>
        <p:blipFill>
          <a:blip r:embed="rId2"/>
          <a:stretch>
            <a:fillRect/>
          </a:stretch>
        </p:blipFill>
        <p:spPr>
          <a:xfrm>
            <a:off x="10868526" y="5692826"/>
            <a:ext cx="737936" cy="735713"/>
          </a:xfrm>
          <a:prstGeom prst="rect">
            <a:avLst/>
          </a:prstGeom>
        </p:spPr>
      </p:pic>
    </p:spTree>
    <p:extLst>
      <p:ext uri="{BB962C8B-B14F-4D97-AF65-F5344CB8AC3E}">
        <p14:creationId xmlns:p14="http://schemas.microsoft.com/office/powerpoint/2010/main" val="4082258212"/>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67200" y="1262809"/>
            <a:ext cx="4179570" cy="1524735"/>
          </a:xfrm>
        </p:spPr>
        <p:txBody>
          <a:bodyPr/>
          <a:lstStyle/>
          <a:p>
            <a:r>
              <a:rPr lang="en-US"/>
              <a:t>THANK YOU</a:t>
            </a:r>
          </a:p>
        </p:txBody>
      </p:sp>
      <p:sp>
        <p:nvSpPr>
          <p:cNvPr id="3" name="Subtitle 2">
            <a:extLst>
              <a:ext uri="{FF2B5EF4-FFF2-40B4-BE49-F238E27FC236}">
                <a16:creationId xmlns:a16="http://schemas.microsoft.com/office/drawing/2014/main" id="{AF64C29E-DF30-4DC6-AB95-2016F9A703B6}"/>
              </a:ext>
            </a:extLst>
          </p:cNvPr>
          <p:cNvSpPr>
            <a:spLocks noGrp="1"/>
          </p:cNvSpPr>
          <p:nvPr>
            <p:ph type="subTitle" idx="1"/>
          </p:nvPr>
        </p:nvSpPr>
        <p:spPr>
          <a:xfrm>
            <a:off x="4267200" y="3856063"/>
            <a:ext cx="4179570" cy="1371997"/>
          </a:xfrm>
        </p:spPr>
        <p:txBody>
          <a:bodyPr>
            <a:normAutofit/>
          </a:bodyPr>
          <a:lstStyle/>
          <a:p>
            <a:pPr>
              <a:lnSpc>
                <a:spcPct val="200000"/>
              </a:lnSpc>
            </a:pPr>
            <a:r>
              <a:rPr lang="en-US"/>
              <a:t>Kayum Bekov</a:t>
            </a:r>
          </a:p>
          <a:p>
            <a:pPr>
              <a:lnSpc>
                <a:spcPct val="200000"/>
              </a:lnSpc>
            </a:pPr>
            <a:r>
              <a:rPr lang="en-US"/>
              <a:t>kayumbekow@gmail.com</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p:txBody>
          <a:bodyPr/>
          <a:lstStyle/>
          <a:p>
            <a:fld id="{A49DFD55-3C28-40EF-9E31-A92D2E4017FF}" type="slidenum">
              <a:rPr lang="en-US" smtClean="0"/>
              <a:pPr/>
              <a:t>14</a:t>
            </a:fld>
            <a:endParaRPr lang="en-US"/>
          </a:p>
        </p:txBody>
      </p:sp>
    </p:spTree>
    <p:extLst>
      <p:ext uri="{BB962C8B-B14F-4D97-AF65-F5344CB8AC3E}">
        <p14:creationId xmlns:p14="http://schemas.microsoft.com/office/powerpoint/2010/main" val="19697875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A2D15-4D68-4BF7-9421-032AE6C8852C}"/>
              </a:ext>
            </a:extLst>
          </p:cNvPr>
          <p:cNvSpPr>
            <a:spLocks noGrp="1"/>
          </p:cNvSpPr>
          <p:nvPr>
            <p:ph type="title"/>
          </p:nvPr>
        </p:nvSpPr>
        <p:spPr>
          <a:xfrm>
            <a:off x="1435977" y="1333336"/>
            <a:ext cx="8421688" cy="992770"/>
          </a:xfrm>
        </p:spPr>
        <p:txBody>
          <a:bodyPr>
            <a:normAutofit/>
          </a:bodyPr>
          <a:lstStyle/>
          <a:p>
            <a:r>
              <a:rPr lang="en-US"/>
              <a:t>Your Thoughts on What is Family? </a:t>
            </a:r>
            <a:br>
              <a:rPr lang="en-US"/>
            </a:br>
            <a:endParaRPr lang="en-US"/>
          </a:p>
        </p:txBody>
      </p:sp>
      <p:sp>
        <p:nvSpPr>
          <p:cNvPr id="25" name="Slide Number Placeholder 24">
            <a:extLst>
              <a:ext uri="{FF2B5EF4-FFF2-40B4-BE49-F238E27FC236}">
                <a16:creationId xmlns:a16="http://schemas.microsoft.com/office/drawing/2014/main" id="{148E9129-4CC6-47BA-ACD8-2C632A8660EC}"/>
              </a:ext>
            </a:extLst>
          </p:cNvPr>
          <p:cNvSpPr>
            <a:spLocks noGrp="1"/>
          </p:cNvSpPr>
          <p:nvPr>
            <p:ph type="sldNum" sz="quarter" idx="12"/>
          </p:nvPr>
        </p:nvSpPr>
        <p:spPr/>
        <p:txBody>
          <a:bodyPr/>
          <a:lstStyle/>
          <a:p>
            <a:fld id="{A49DFD55-3C28-40EF-9E31-A92D2E4017FF}" type="slidenum">
              <a:rPr lang="en-US" smtClean="0"/>
              <a:pPr/>
              <a:t>15</a:t>
            </a:fld>
            <a:endParaRPr lang="en-US"/>
          </a:p>
        </p:txBody>
      </p:sp>
      <p:pic>
        <p:nvPicPr>
          <p:cNvPr id="1042" name="Picture 18" descr="Why Are Different 'Family Forms' Not Equal? | Hungarian Conservative">
            <a:extLst>
              <a:ext uri="{FF2B5EF4-FFF2-40B4-BE49-F238E27FC236}">
                <a16:creationId xmlns:a16="http://schemas.microsoft.com/office/drawing/2014/main" id="{2D70C3D5-0944-8BA5-B4C2-43664033B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8268" y="2714207"/>
            <a:ext cx="6338637" cy="3254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3012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theme/theme1.xml><?xml version="1.0" encoding="utf-8"?>
<a:theme xmlns:a="http://schemas.openxmlformats.org/drawingml/2006/main" name="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_tm67328976_Win32_LW_SL_v3" id="{B5A5B451-F186-4F05-917D-430247B33515}" vid="{C0610F80-F57F-4E6B-A096-3AEBDD5FC5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96B61E-1B64-430F-934F-7D1B900280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9C43685-694E-4579-B109-3C418D49DA6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FD6FE22-81A0-4500-AFD0-342D21BB9A2C}">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396</TotalTime>
  <Words>1701</Words>
  <Application>Microsoft Office PowerPoint</Application>
  <PresentationFormat>Widescreen</PresentationFormat>
  <Paragraphs>73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Georgia Pro Cond Semibold</vt:lpstr>
      <vt:lpstr>Tenorite</vt:lpstr>
      <vt:lpstr>Times New Roman</vt:lpstr>
      <vt:lpstr>Office Theme</vt:lpstr>
      <vt:lpstr>WHAT IS FAMILY ?</vt:lpstr>
      <vt:lpstr>INTRODUCTION</vt:lpstr>
      <vt:lpstr>PowerPoint Presentation</vt:lpstr>
      <vt:lpstr>Analyzing “Family” as Interpretive Practice</vt:lpstr>
      <vt:lpstr>The Artful Side of Interpretation</vt:lpstr>
      <vt:lpstr>PowerPoint Presentation</vt:lpstr>
      <vt:lpstr>  deprivatization of Family Life </vt:lpstr>
      <vt:lpstr>PowerPoint Presentation</vt:lpstr>
      <vt:lpstr>CONTINUING CONCERNS </vt:lpstr>
      <vt:lpstr>PowerPoint Presentation</vt:lpstr>
      <vt:lpstr>Theoretical Concerns</vt:lpstr>
      <vt:lpstr>Practical Concerns</vt:lpstr>
      <vt:lpstr>PowerPoint Presentation</vt:lpstr>
      <vt:lpstr>THANK YOU</vt:lpstr>
      <vt:lpstr>Your Thoughts on What is Family?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Brat 2</dc:title>
  <dc:creator>Kayum Bekov</dc:creator>
  <cp:lastModifiedBy>Bekov Kayum</cp:lastModifiedBy>
  <cp:revision>6</cp:revision>
  <dcterms:created xsi:type="dcterms:W3CDTF">2023-01-03T19:18:28Z</dcterms:created>
  <dcterms:modified xsi:type="dcterms:W3CDTF">2023-05-18T04:37:51Z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defa4170-0d19-0005-0004-bc88714345d2_Enabled">
    <vt:lpwstr>true</vt:lpwstr>
  </property>
  <property fmtid="{D5CDD505-2E9C-101B-9397-08002B2CF9AE}" pid="4" name="MSIP_Label_defa4170-0d19-0005-0004-bc88714345d2_SetDate">
    <vt:lpwstr>2023-01-03T19:19:39Z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b944c372-c7e9-472a-814b-9b0eab022947</vt:lpwstr>
  </property>
  <property fmtid="{D5CDD505-2E9C-101B-9397-08002B2CF9AE}" pid="8" name="MSIP_Label_defa4170-0d19-0005-0004-bc88714345d2_ActionId">
    <vt:lpwstr>2a66f78c-d849-4339-8663-accdd7847d80</vt:lpwstr>
  </property>
  <property fmtid="{D5CDD505-2E9C-101B-9397-08002B2CF9AE}" pid="9" name="MSIP_Label_defa4170-0d19-0005-0004-bc88714345d2_ContentBits">
    <vt:lpwstr>0</vt:lpwstr>
  </property>
</Properties>
</file>